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embeddedFontLst>
    <p:embeddedFont>
      <p:font typeface="Century Gothic" panose="020B0502020202020204" charset="0"/>
      <p:regular r:id="rId28"/>
      <p:bold r:id="rId29"/>
      <p:italic r:id="rId30"/>
      <p:boldItalic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endParaRPr lang="en-US" sz="8000" dirty="0">
              <a:solidFill>
                <a:schemeClr val="accent1"/>
              </a:solidFill>
            </a:endParaRP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endParaRPr lang="en-US" sz="8000" dirty="0">
              <a:solidFill>
                <a:schemeClr val="accent1"/>
              </a:solidFill>
            </a:endParaRP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endParaRPr lang="en-US" sz="8000" dirty="0">
              <a:solidFill>
                <a:schemeClr val="accent1"/>
              </a:solidFill>
            </a:endParaRP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endParaRPr lang="en-US" sz="8000" dirty="0">
              <a:solidFill>
                <a:schemeClr val="accent1"/>
              </a:solidFill>
            </a:endParaRP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panose="020B0604020202020204"/>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panose="020B0604020202020204"/>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panose="020B0604020202020204"/>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959356" y="3040285"/>
            <a:ext cx="8676222" cy="3200400"/>
          </a:xfrm>
        </p:spPr>
        <p:txBody>
          <a:bodyPr>
            <a:normAutofit fontScale="90000"/>
          </a:bodyPr>
          <a:lstStyle/>
          <a:p>
            <a:r>
              <a:rPr lang="en-US" b="1" dirty="0">
                <a:effectLst/>
              </a:rPr>
              <a:t>MACHINE LEARNING</a:t>
            </a:r>
            <a:br>
              <a:rPr lang="en-US" b="1" dirty="0">
                <a:effectLst/>
              </a:rPr>
            </a:br>
            <a:r>
              <a:rPr lang="en-US" b="1" dirty="0">
                <a:effectLst/>
              </a:rPr>
              <a:t>                                                                                                  </a:t>
            </a:r>
            <a:r>
              <a:rPr lang="en-IN" b="1" dirty="0">
                <a:effectLst/>
              </a:rPr>
              <a:t>TITLE:</a:t>
            </a:r>
            <a:r>
              <a:rPr lang="en-US" b="1" dirty="0">
                <a:effectLst/>
              </a:rPr>
              <a:t>Heart Disease Prediction using Machine Learning</a:t>
            </a:r>
            <a:br>
              <a:rPr lang="en-US" b="1" dirty="0">
                <a:effectLst/>
              </a:rPr>
            </a:br>
            <a:r>
              <a:rPr lang="en-US" b="1" dirty="0">
                <a:effectLst/>
              </a:rPr>
              <a:t>Name: </a:t>
            </a:r>
            <a:r>
              <a:rPr lang="en-US" b="1" dirty="0" err="1">
                <a:effectLst/>
              </a:rPr>
              <a:t>siri</a:t>
            </a:r>
            <a:br>
              <a:rPr lang="en-US" b="1" dirty="0">
                <a:effectLst/>
              </a:rPr>
            </a:br>
            <a:r>
              <a:rPr lang="en-US" b="1" dirty="0">
                <a:effectLst/>
              </a:rPr>
              <a:t>rollno:2403a51228</a:t>
            </a:r>
            <a:br>
              <a:rPr lang="en-IN" dirty="0">
                <a:effectLst/>
              </a:rPr>
            </a:b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1787" y="3200400"/>
            <a:ext cx="8755624" cy="410900"/>
          </a:xfrm>
        </p:spPr>
        <p:txBody>
          <a:bodyPr>
            <a:normAutofit fontScale="90000"/>
          </a:bodyPr>
          <a:lstStyle/>
          <a:p>
            <a:r>
              <a:rPr lang="en-US" sz="2200" b="1" dirty="0">
                <a:effectLst/>
              </a:rPr>
              <a:t>Abstract  </a:t>
            </a:r>
            <a:br>
              <a:rPr lang="en-US" sz="2200" b="1" dirty="0">
                <a:effectLst/>
              </a:rPr>
            </a:br>
            <a:br>
              <a:rPr lang="en-US" sz="2200" b="1" dirty="0">
                <a:effectLst/>
              </a:rPr>
            </a:br>
            <a:br>
              <a:rPr lang="en-IN" sz="2200" dirty="0">
                <a:effectLst/>
              </a:rPr>
            </a:br>
            <a:r>
              <a:rPr lang="en-US" sz="2200" dirty="0">
                <a:effectLst/>
              </a:rPr>
              <a:t>Heart disease is one of the leading causes of death in the world. Early detection can help doctors provide better treatment and reduce the risk of serious health problems. This project focuses on predicting whether a person has heart disease or not using machine learning techniques. The system analyzes medical data such as age, blood pressure, cholesterol level, and other health parameters. Different machine learning algorithms like Logistic Regression, Decision Tree, and Random Forest are used to build prediction models. The models are trained using a dataset and their performance is evaluated using metrics like accuracy, precision, recall, and F1-score. The results show that machine learning can help in early diagnosis and improve healthcare decision-making.</a:t>
            </a:r>
            <a:br>
              <a:rPr lang="en-IN" dirty="0">
                <a:effectLst/>
              </a:rPr>
            </a:br>
            <a:r>
              <a:rPr lang="en-US" b="1" dirty="0">
                <a:effectLst/>
              </a:rPr>
              <a:t>         </a:t>
            </a:r>
            <a:br>
              <a:rPr lang="en-IN" dirty="0">
                <a:effectLst/>
              </a:rPr>
            </a:br>
            <a:endParaRPr lang="en-IN" sz="1200" dirty="0"/>
          </a:p>
        </p:txBody>
      </p:sp>
      <p:sp>
        <p:nvSpPr>
          <p:cNvPr id="3" name="Content Placeholder 2"/>
          <p:cNvSpPr>
            <a:spLocks noGrp="1"/>
          </p:cNvSpPr>
          <p:nvPr>
            <p:ph idx="1"/>
          </p:nvPr>
        </p:nvSpPr>
        <p:spPr>
          <a:xfrm flipV="1">
            <a:off x="1141413" y="7239000"/>
            <a:ext cx="9905998" cy="518160"/>
          </a:xfrm>
        </p:spPr>
        <p:txBody>
          <a:bodyPr/>
          <a:lstStyle/>
          <a:p>
            <a:pPr marL="0" indent="0">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80160" y="838200"/>
            <a:ext cx="9965371" cy="5334000"/>
          </a:xfrm>
        </p:spPr>
        <p:txBody>
          <a:bodyPr>
            <a:normAutofit fontScale="90000"/>
          </a:bodyPr>
          <a:lstStyle/>
          <a:p>
            <a:r>
              <a:rPr lang="en-US" sz="1400" dirty="0">
                <a:effectLst/>
              </a:rPr>
              <a:t> </a:t>
            </a:r>
            <a:br>
              <a:rPr lang="en-IN" sz="1400" dirty="0">
                <a:effectLst/>
              </a:rPr>
            </a:br>
            <a:r>
              <a:rPr lang="en-US" sz="1800" dirty="0">
                <a:effectLst/>
              </a:rPr>
              <a:t>Heart disease is one of the leading causes of death worldwide and affects millions of people every year. It includes various conditions such as coronary artery disease, heart attack, and other cardiovascular problems that affect the normal functioning of the heart. Factors like high blood pressure, high cholesterol, unhealthy lifestyle, smoking, and lack of physical activity increase the risk of heart disease.</a:t>
            </a:r>
            <a:br>
              <a:rPr lang="en-IN" sz="1800" dirty="0">
                <a:effectLst/>
              </a:rPr>
            </a:br>
            <a:r>
              <a:rPr lang="en-US" sz="1800" dirty="0">
                <a:effectLst/>
              </a:rPr>
              <a:t>Early detection of heart disease is very important to reduce serious health complications and improve patient survival. Traditionally, doctors diagnose heart disease using different medical tests and patient reports. However, this process may take time and depends on the experience of medical experts.</a:t>
            </a:r>
            <a:br>
              <a:rPr lang="en-IN" sz="1800" dirty="0">
                <a:effectLst/>
              </a:rPr>
            </a:br>
            <a:r>
              <a:rPr lang="en-US" sz="1800" dirty="0">
                <a:effectLst/>
              </a:rPr>
              <a:t>With the advancement of technology, Machine Learning has become an important tool in the healthcare field. Machine Learning allows computers to analyze medical data, learn patterns, and make predictions. By using patient health information such as age, blood pressure, cholesterol level, and heart rate, machine learning models can help predict whether a person has heart disease</a:t>
            </a:r>
            <a:br>
              <a:rPr lang="en-US" sz="1800" dirty="0">
                <a:effectLst/>
              </a:rPr>
            </a:br>
            <a:r>
              <a:rPr lang="en-US" sz="1800" dirty="0">
                <a:effectLst/>
              </a:rPr>
              <a:t>. In this project, machine learning algorithms such as Logistic Regression, Decision Tree, and Random Forest are used to build prediction models. These models are trained using a heart disease dataset and evaluated using performance metrics like accuracy and precision. The main aim of this project is to develop a system that can assist doctors in predicting heart disease quickly and accurately, helping in early diagnosis and better healthcare decisions</a:t>
            </a:r>
            <a:r>
              <a:rPr lang="en-US" sz="1600" dirty="0">
                <a:effectLst/>
              </a:rPr>
              <a:t>.</a:t>
            </a:r>
            <a:br>
              <a:rPr lang="en-US" sz="1600" dirty="0">
                <a:effectLst/>
              </a:rPr>
            </a:br>
            <a:br>
              <a:rPr lang="en-IN" dirty="0">
                <a:effectLst/>
              </a:rPr>
            </a:br>
            <a:br>
              <a:rPr lang="en-IN" sz="1400" dirty="0">
                <a:effectLst/>
              </a:rPr>
            </a:b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81492" y="365760"/>
            <a:ext cx="8676222" cy="4785360"/>
          </a:xfrm>
        </p:spPr>
        <p:txBody>
          <a:bodyPr>
            <a:noAutofit/>
          </a:bodyPr>
          <a:lstStyle/>
          <a:p>
            <a:r>
              <a:rPr lang="en-US" sz="1600" b="1" dirty="0">
                <a:effectLst/>
              </a:rPr>
              <a:t>Problem Statement</a:t>
            </a:r>
            <a:br>
              <a:rPr lang="en-IN" sz="1600" b="1" dirty="0">
                <a:effectLst/>
              </a:rPr>
            </a:br>
            <a:r>
              <a:rPr lang="en-US" sz="1600" dirty="0">
                <a:effectLst/>
              </a:rPr>
              <a:t>Heart disease diagnosis usually requires multiple medical tests and the expertise of specialized doctors. These tests include blood tests, ECG, stress tests, and other medical examinations. In many regions, especially rural or underdeveloped areas, proper medical facilities and experienced cardiologists may not always be available. Because of this, early detection of heart disease becomes difficult, and patients may not timely treatment.</a:t>
            </a:r>
            <a:br>
              <a:rPr lang="en-IN" sz="1600" dirty="0">
                <a:effectLst/>
              </a:rPr>
            </a:br>
            <a:r>
              <a:rPr lang="en-US" sz="1600" dirty="0">
                <a:effectLst/>
              </a:rPr>
              <a:t>Another challenge is that doctors must analyze many different health parameters such as age, cholesterol level, blood pressure, chest pain type, and heart rate to determine whether a patient has heart disease. Manually analyzing all these factors can be time-consuming and may sometimes lead to errors or delayed diagnosis.</a:t>
            </a:r>
            <a:br>
              <a:rPr lang="en-IN" sz="1600" dirty="0">
                <a:effectLst/>
              </a:rPr>
            </a:br>
            <a:r>
              <a:rPr lang="en-US" sz="1600" dirty="0">
                <a:effectLst/>
              </a:rPr>
              <a:t>Therefore, there is a need for an intelligent system that can assist medical professionals in predicting heart disease quickly and accurately. The problem addressed in this project is to develop a machine learning model that can predict the presence of heart</a:t>
            </a:r>
            <a:endParaRPr lang="en-IN" sz="1600" dirty="0"/>
          </a:p>
        </p:txBody>
      </p:sp>
      <p:sp>
        <p:nvSpPr>
          <p:cNvPr id="3" name="Subtitle 2"/>
          <p:cNvSpPr>
            <a:spLocks noGrp="1"/>
          </p:cNvSpPr>
          <p:nvPr>
            <p:ph type="subTitle" idx="1"/>
          </p:nvPr>
        </p:nvSpPr>
        <p:spPr>
          <a:xfrm flipV="1">
            <a:off x="1751012" y="5791200"/>
            <a:ext cx="8676222" cy="152400"/>
          </a:xfrm>
        </p:spPr>
        <p:txBody>
          <a:bodyPr>
            <a:normAutofit fontScale="25000" lnSpcReduction="20000"/>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440" y="609600"/>
            <a:ext cx="10454639" cy="5730240"/>
          </a:xfrm>
        </p:spPr>
        <p:txBody>
          <a:bodyPr>
            <a:normAutofit/>
          </a:bodyPr>
          <a:lstStyle/>
          <a:p>
            <a:r>
              <a:rPr lang="en-US" sz="1600" b="1" dirty="0">
                <a:effectLst/>
              </a:rPr>
              <a:t>Objectives</a:t>
            </a:r>
            <a:br>
              <a:rPr lang="en-IN" sz="1600" dirty="0">
                <a:effectLst/>
              </a:rPr>
            </a:br>
            <a:r>
              <a:rPr lang="en-US" sz="1600" dirty="0">
                <a:effectLst/>
              </a:rPr>
              <a:t>The main objectives of this project are:</a:t>
            </a:r>
            <a:br>
              <a:rPr lang="en-IN" sz="1600" dirty="0">
                <a:effectLst/>
              </a:rPr>
            </a:br>
            <a:r>
              <a:rPr lang="en-US" sz="1600" b="1" dirty="0">
                <a:effectLst/>
              </a:rPr>
              <a:t>To analyze heart disease datasets containing patient health information.</a:t>
            </a:r>
            <a:r>
              <a:rPr lang="en-US" sz="1600" dirty="0">
                <a:effectLst/>
              </a:rPr>
              <a:t> </a:t>
            </a:r>
            <a:br>
              <a:rPr lang="en-IN" sz="1600" dirty="0">
                <a:effectLst/>
              </a:rPr>
            </a:br>
            <a:r>
              <a:rPr lang="en-US" sz="1600" b="1" dirty="0">
                <a:effectLst/>
              </a:rPr>
              <a:t>To preprocess and clean the dataset for machine learning models.</a:t>
            </a:r>
            <a:r>
              <a:rPr lang="en-US" sz="1600" dirty="0">
                <a:effectLst/>
              </a:rPr>
              <a:t> </a:t>
            </a:r>
            <a:br>
              <a:rPr lang="en-IN" sz="1600" dirty="0">
                <a:effectLst/>
              </a:rPr>
            </a:br>
            <a:r>
              <a:rPr lang="en-US" sz="1600" b="1" dirty="0">
                <a:effectLst/>
              </a:rPr>
              <a:t>To implement machine learning algorithms such as Logistic Regression, Decision Tree, and Random Forest for heart disease prediction.</a:t>
            </a:r>
            <a:r>
              <a:rPr lang="en-US" sz="1600" dirty="0">
                <a:effectLst/>
              </a:rPr>
              <a:t> </a:t>
            </a:r>
            <a:br>
              <a:rPr lang="en-IN" sz="1600" dirty="0">
                <a:effectLst/>
              </a:rPr>
            </a:br>
            <a:r>
              <a:rPr lang="en-US" sz="1600" b="1" dirty="0">
                <a:effectLst/>
              </a:rPr>
              <a:t>To train and test the machine learning models using the dataset.</a:t>
            </a:r>
            <a:r>
              <a:rPr lang="en-US" sz="1600" dirty="0">
                <a:effectLst/>
              </a:rPr>
              <a:t> </a:t>
            </a:r>
            <a:br>
              <a:rPr lang="en-IN" sz="1600" dirty="0">
                <a:effectLst/>
              </a:rPr>
            </a:br>
            <a:r>
              <a:rPr lang="en-US" sz="1600" b="1" dirty="0">
                <a:effectLst/>
              </a:rPr>
              <a:t>To evaluate and compare the performance of different algorithms using metrics like accuracy, precision, recall, and F1-score.</a:t>
            </a:r>
            <a:r>
              <a:rPr lang="en-US" sz="1600" dirty="0">
                <a:effectLst/>
              </a:rPr>
              <a:t> </a:t>
            </a:r>
            <a:br>
              <a:rPr lang="en-IN" sz="1600" dirty="0">
                <a:effectLst/>
              </a:rPr>
            </a:br>
            <a:r>
              <a:rPr lang="en-US" sz="1600" b="1" dirty="0">
                <a:effectLst/>
              </a:rPr>
              <a:t>To assist doctors in early detection and diagnosis of heart disease using predictive analysis.</a:t>
            </a:r>
            <a:br>
              <a:rPr lang="en-IN" dirty="0">
                <a:effectLst/>
              </a:rPr>
            </a:br>
            <a:br>
              <a:rPr lang="en-US" sz="1600" b="1" dirty="0">
                <a:effectLst/>
              </a:rPr>
            </a:br>
            <a:endParaRPr lang="en-IN" sz="1600" dirty="0"/>
          </a:p>
        </p:txBody>
      </p:sp>
      <p:sp>
        <p:nvSpPr>
          <p:cNvPr id="3" name="Content Placeholder 2"/>
          <p:cNvSpPr>
            <a:spLocks noGrp="1"/>
          </p:cNvSpPr>
          <p:nvPr>
            <p:ph idx="1"/>
          </p:nvPr>
        </p:nvSpPr>
        <p:spPr>
          <a:xfrm>
            <a:off x="1141413" y="3596640"/>
            <a:ext cx="9905998" cy="2194560"/>
          </a:xfrm>
        </p:spPr>
        <p:txBody>
          <a:bodyPr>
            <a:normAutofit/>
          </a:bodyPr>
          <a:lstStyle/>
          <a:p>
            <a:endParaRPr lang="en-IN"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5044440"/>
          </a:xfrm>
        </p:spPr>
        <p:txBody>
          <a:bodyPr>
            <a:normAutofit fontScale="90000"/>
          </a:bodyPr>
          <a:lstStyle/>
          <a:p>
            <a:r>
              <a:rPr lang="en-US" sz="4000" dirty="0">
                <a:effectLst/>
              </a:rPr>
              <a:t>Algorithms Used</a:t>
            </a:r>
            <a:br>
              <a:rPr lang="en-IN" sz="1600" b="1" dirty="0">
                <a:effectLst/>
              </a:rPr>
            </a:br>
            <a:r>
              <a:rPr lang="en-US" sz="2000" dirty="0">
                <a:effectLst/>
              </a:rPr>
              <a:t>In this project, three machine learning algorithms are used:</a:t>
            </a:r>
            <a:br>
              <a:rPr lang="en-IN" sz="2000" dirty="0">
                <a:effectLst/>
              </a:rPr>
            </a:br>
            <a:r>
              <a:rPr lang="en-US" sz="2000" b="1" dirty="0">
                <a:effectLst/>
              </a:rPr>
              <a:t>1. Logistic Regression</a:t>
            </a:r>
            <a:br>
              <a:rPr lang="en-IN" sz="2000" b="1" dirty="0">
                <a:effectLst/>
              </a:rPr>
            </a:br>
            <a:r>
              <a:rPr lang="en-US" sz="2000" dirty="0">
                <a:effectLst/>
              </a:rPr>
              <a:t>Logistic Regression is used for binary classification problems. It predicts whether the output is </a:t>
            </a:r>
            <a:r>
              <a:rPr lang="en-US" sz="2000" b="1" dirty="0">
                <a:effectLst/>
              </a:rPr>
              <a:t>0 or 1</a:t>
            </a:r>
            <a:r>
              <a:rPr lang="en-US" sz="2000" dirty="0">
                <a:effectLst/>
              </a:rPr>
              <a:t>, meaning </a:t>
            </a:r>
            <a:r>
              <a:rPr lang="en-US" sz="2000" b="1" dirty="0">
                <a:effectLst/>
              </a:rPr>
              <a:t>No Heart Disease or Heart Disease</a:t>
            </a:r>
            <a:r>
              <a:rPr lang="en-US" sz="2000" dirty="0">
                <a:effectLst/>
              </a:rPr>
              <a:t>.</a:t>
            </a:r>
            <a:br>
              <a:rPr lang="en-IN" sz="2000" dirty="0">
                <a:effectLst/>
              </a:rPr>
            </a:br>
            <a:r>
              <a:rPr lang="en-US" sz="2000" b="1" dirty="0">
                <a:effectLst/>
              </a:rPr>
              <a:t>2. Decision Tree</a:t>
            </a:r>
            <a:br>
              <a:rPr lang="en-IN" sz="2000" b="1" dirty="0">
                <a:effectLst/>
              </a:rPr>
            </a:br>
            <a:r>
              <a:rPr lang="en-US" sz="2000" dirty="0">
                <a:effectLst/>
              </a:rPr>
              <a:t>Decision Tree works like a flowchart where decisions are made based on different conditions of the data.</a:t>
            </a:r>
            <a:br>
              <a:rPr lang="en-IN" sz="2000" dirty="0">
                <a:effectLst/>
              </a:rPr>
            </a:br>
            <a:r>
              <a:rPr lang="en-US" sz="2000" b="1" dirty="0">
                <a:effectLst/>
              </a:rPr>
              <a:t>3. Random Forest</a:t>
            </a:r>
            <a:br>
              <a:rPr lang="en-IN" sz="2000" b="1" dirty="0">
                <a:effectLst/>
              </a:rPr>
            </a:br>
            <a:r>
              <a:rPr lang="en-US" sz="2000" dirty="0">
                <a:effectLst/>
              </a:rPr>
              <a:t>Random Forest is an ensemble learning method that combines multiple decision trees to improve prediction accuracy</a:t>
            </a:r>
            <a:r>
              <a:rPr lang="en-US" dirty="0">
                <a:effectLst/>
              </a:rPr>
              <a:t>.</a:t>
            </a:r>
            <a:br>
              <a:rPr lang="en-IN" dirty="0">
                <a:effectLst/>
              </a:rPr>
            </a:br>
            <a:r>
              <a:rPr lang="en-US" dirty="0">
                <a:effectLst/>
              </a:rPr>
              <a:t> </a:t>
            </a:r>
            <a:br>
              <a:rPr lang="en-IN" dirty="0">
                <a:effectLst/>
              </a:rPr>
            </a:br>
            <a:br>
              <a:rPr lang="en-IN" dirty="0">
                <a:effectLst/>
              </a:rPr>
            </a:br>
            <a:endParaRPr lang="en-IN" dirty="0"/>
          </a:p>
        </p:txBody>
      </p:sp>
      <p:sp>
        <p:nvSpPr>
          <p:cNvPr id="3" name="Content Placeholder 2"/>
          <p:cNvSpPr>
            <a:spLocks noGrp="1"/>
          </p:cNvSpPr>
          <p:nvPr>
            <p:ph idx="1"/>
          </p:nvPr>
        </p:nvSpPr>
        <p:spPr>
          <a:xfrm flipV="1">
            <a:off x="1141413" y="5791200"/>
            <a:ext cx="9905998" cy="1173480"/>
          </a:xfrm>
        </p:spPr>
        <p:txBody>
          <a:bodyPr>
            <a:normAutofit/>
          </a:bodyPr>
          <a:lstStyle/>
          <a:p>
            <a:endParaRPr lang="en-IN"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rPr>
              <a:t>Implementation</a:t>
            </a:r>
            <a:br>
              <a:rPr lang="en-IN" dirty="0">
                <a:effectLst/>
              </a:rPr>
            </a:br>
            <a:r>
              <a:rPr lang="en-US" b="1" dirty="0">
                <a:effectLst/>
              </a:rPr>
              <a:t>Implementation (Dataset + Models)</a:t>
            </a:r>
            <a:br>
              <a:rPr lang="en-IN" b="1" dirty="0">
                <a:effectLst/>
              </a:rPr>
            </a:br>
            <a:r>
              <a:rPr lang="en-US" dirty="0">
                <a:effectLst/>
              </a:rPr>
              <a:t>code</a:t>
            </a:r>
            <a:br>
              <a:rPr lang="en-IN" dirty="0">
                <a:effectLst/>
              </a:rPr>
            </a:br>
            <a:endParaRPr lang="en-IN" dirty="0"/>
          </a:p>
        </p:txBody>
      </p:sp>
      <p:pic>
        <p:nvPicPr>
          <p:cNvPr id="5" name="Content Placeholder 4"/>
          <p:cNvPicPr>
            <a:picLocks noGrp="1" noChangeAspect="1"/>
          </p:cNvPicPr>
          <p:nvPr>
            <p:ph idx="1"/>
          </p:nvPr>
        </p:nvPicPr>
        <p:blipFill>
          <a:blip r:embed="rId1"/>
          <a:stretch>
            <a:fillRect/>
          </a:stretch>
        </p:blipFill>
        <p:spPr>
          <a:xfrm>
            <a:off x="2603957" y="1813560"/>
            <a:ext cx="6438226" cy="472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52930" y="609600"/>
            <a:ext cx="796925" cy="1905000"/>
          </a:xfrm>
        </p:spPr>
        <p:txBody>
          <a:bodyPr/>
          <a:lstStyle/>
          <a:p>
            <a:endParaRPr lang="en-IN" dirty="0"/>
          </a:p>
        </p:txBody>
      </p:sp>
      <p:pic>
        <p:nvPicPr>
          <p:cNvPr id="7" name="Content Placeholder 6"/>
          <p:cNvPicPr>
            <a:picLocks noGrp="1" noChangeAspect="1"/>
          </p:cNvPicPr>
          <p:nvPr>
            <p:ph idx="1"/>
          </p:nvPr>
        </p:nvPicPr>
        <p:blipFill>
          <a:blip r:embed="rId1"/>
          <a:stretch>
            <a:fillRect/>
          </a:stretch>
        </p:blipFill>
        <p:spPr>
          <a:xfrm>
            <a:off x="822959" y="3154680"/>
            <a:ext cx="6324601" cy="3596640"/>
          </a:xfrm>
          <a:prstGeom prst="rect">
            <a:avLst/>
          </a:prstGeom>
        </p:spPr>
      </p:pic>
      <p:pic>
        <p:nvPicPr>
          <p:cNvPr id="5" name="Picture 4"/>
          <p:cNvPicPr>
            <a:picLocks noChangeAspect="1"/>
          </p:cNvPicPr>
          <p:nvPr/>
        </p:nvPicPr>
        <p:blipFill>
          <a:blip r:embed="rId2"/>
          <a:stretch>
            <a:fillRect/>
          </a:stretch>
        </p:blipFill>
        <p:spPr>
          <a:xfrm>
            <a:off x="822958" y="106680"/>
            <a:ext cx="6324601" cy="2910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53440" y="609600"/>
            <a:ext cx="807085" cy="1905000"/>
          </a:xfrm>
        </p:spPr>
        <p:txBody>
          <a:bodyPr/>
          <a:lstStyle/>
          <a:p>
            <a:endParaRPr lang="en-IN" dirty="0"/>
          </a:p>
        </p:txBody>
      </p:sp>
      <p:pic>
        <p:nvPicPr>
          <p:cNvPr id="7" name="Content Placeholder 6"/>
          <p:cNvPicPr>
            <a:picLocks noGrp="1" noChangeAspect="1"/>
          </p:cNvPicPr>
          <p:nvPr>
            <p:ph idx="1"/>
          </p:nvPr>
        </p:nvPicPr>
        <p:blipFill>
          <a:blip r:embed="rId1"/>
          <a:stretch>
            <a:fillRect/>
          </a:stretch>
        </p:blipFill>
        <p:spPr>
          <a:xfrm>
            <a:off x="1676402" y="3206496"/>
            <a:ext cx="5791198" cy="3041904"/>
          </a:xfrm>
          <a:prstGeom prst="rect">
            <a:avLst/>
          </a:prstGeom>
        </p:spPr>
      </p:pic>
      <p:pic>
        <p:nvPicPr>
          <p:cNvPr id="5" name="Picture 4"/>
          <p:cNvPicPr>
            <a:picLocks noChangeAspect="1"/>
          </p:cNvPicPr>
          <p:nvPr/>
        </p:nvPicPr>
        <p:blipFill>
          <a:blip r:embed="rId2"/>
          <a:stretch>
            <a:fillRect/>
          </a:stretch>
        </p:blipFill>
        <p:spPr>
          <a:xfrm>
            <a:off x="1676402" y="128016"/>
            <a:ext cx="5791198" cy="30419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28" y="0"/>
            <a:ext cx="9905998" cy="1905000"/>
          </a:xfrm>
        </p:spPr>
        <p:txBody>
          <a:bodyPr/>
          <a:lstStyle/>
          <a:p>
            <a:r>
              <a:rPr lang="en-US" dirty="0"/>
              <a:t>OUTPUT:</a:t>
            </a:r>
            <a:br>
              <a:rPr lang="en-US" dirty="0"/>
            </a:br>
            <a:endParaRPr lang="en-IN" dirty="0"/>
          </a:p>
        </p:txBody>
      </p:sp>
      <p:pic>
        <p:nvPicPr>
          <p:cNvPr id="7" name="Content Placeholder 6"/>
          <p:cNvPicPr>
            <a:picLocks noGrp="1" noChangeAspect="1"/>
          </p:cNvPicPr>
          <p:nvPr>
            <p:ph idx="1"/>
          </p:nvPr>
        </p:nvPicPr>
        <p:blipFill>
          <a:blip r:embed="rId1"/>
          <a:stretch>
            <a:fillRect/>
          </a:stretch>
        </p:blipFill>
        <p:spPr>
          <a:xfrm>
            <a:off x="3444241" y="3429000"/>
            <a:ext cx="6504188" cy="3124200"/>
          </a:xfrm>
          <a:prstGeom prst="rect">
            <a:avLst/>
          </a:prstGeom>
        </p:spPr>
      </p:pic>
      <p:pic>
        <p:nvPicPr>
          <p:cNvPr id="5" name="Picture 4"/>
          <p:cNvPicPr>
            <a:picLocks noChangeAspect="1"/>
          </p:cNvPicPr>
          <p:nvPr/>
        </p:nvPicPr>
        <p:blipFill>
          <a:blip r:embed="rId2"/>
          <a:stretch>
            <a:fillRect/>
          </a:stretch>
        </p:blipFill>
        <p:spPr>
          <a:xfrm>
            <a:off x="3002280" y="520817"/>
            <a:ext cx="6946148" cy="26948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14622780" y="-220345"/>
            <a:ext cx="76200" cy="1905000"/>
          </a:xfrm>
        </p:spPr>
        <p:txBody>
          <a:bodyPr/>
          <a:lstStyle/>
          <a:p>
            <a:endParaRPr lang="en-IN" dirty="0"/>
          </a:p>
        </p:txBody>
      </p:sp>
      <p:pic>
        <p:nvPicPr>
          <p:cNvPr id="7" name="Content Placeholder 6"/>
          <p:cNvPicPr>
            <a:picLocks noGrp="1" noChangeAspect="1"/>
          </p:cNvPicPr>
          <p:nvPr>
            <p:ph idx="1"/>
          </p:nvPr>
        </p:nvPicPr>
        <p:blipFill>
          <a:blip r:embed="rId1"/>
          <a:stretch>
            <a:fillRect/>
          </a:stretch>
        </p:blipFill>
        <p:spPr>
          <a:xfrm>
            <a:off x="533400" y="3429000"/>
            <a:ext cx="5562600" cy="3124200"/>
          </a:xfrm>
          <a:prstGeom prst="rect">
            <a:avLst/>
          </a:prstGeom>
        </p:spPr>
      </p:pic>
      <p:pic>
        <p:nvPicPr>
          <p:cNvPr id="5" name="Picture 4"/>
          <p:cNvPicPr>
            <a:picLocks noChangeAspect="1"/>
          </p:cNvPicPr>
          <p:nvPr/>
        </p:nvPicPr>
        <p:blipFill>
          <a:blip r:embed="rId2"/>
          <a:stretch>
            <a:fillRect/>
          </a:stretch>
        </p:blipFill>
        <p:spPr>
          <a:xfrm>
            <a:off x="406993" y="381001"/>
            <a:ext cx="5689007" cy="2819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a:t>
            </a:r>
            <a:br>
              <a:rPr lang="en-US" dirty="0"/>
            </a:br>
            <a:endParaRPr lang="en-IN" dirty="0"/>
          </a:p>
        </p:txBody>
      </p:sp>
      <p:sp>
        <p:nvSpPr>
          <p:cNvPr id="3" name="Content Placeholder 2"/>
          <p:cNvSpPr>
            <a:spLocks noGrp="1"/>
          </p:cNvSpPr>
          <p:nvPr>
            <p:ph idx="1"/>
          </p:nvPr>
        </p:nvSpPr>
        <p:spPr>
          <a:xfrm flipH="1">
            <a:off x="13582650" y="2667000"/>
            <a:ext cx="854710" cy="3124200"/>
          </a:xfrm>
        </p:spPr>
        <p:txBody>
          <a:bodyPr/>
          <a:lstStyle/>
          <a:p>
            <a:endParaRPr lang="en-IN"/>
          </a:p>
        </p:txBody>
      </p:sp>
      <p:pic>
        <p:nvPicPr>
          <p:cNvPr id="5" name="Picture 4"/>
          <p:cNvPicPr>
            <a:picLocks noChangeAspect="1"/>
          </p:cNvPicPr>
          <p:nvPr/>
        </p:nvPicPr>
        <p:blipFill>
          <a:blip r:embed="rId1"/>
          <a:stretch>
            <a:fillRect/>
          </a:stretch>
        </p:blipFill>
        <p:spPr>
          <a:xfrm>
            <a:off x="2877932" y="1066800"/>
            <a:ext cx="7820547" cy="5181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1</a:t>
            </a:r>
            <a:r>
              <a:rPr lang="en-US" b="1" baseline="30000" dirty="0">
                <a:effectLst/>
              </a:rPr>
              <a:t>ST</a:t>
            </a:r>
            <a:r>
              <a:rPr lang="en-US" b="1" dirty="0">
                <a:effectLst/>
              </a:rPr>
              <a:t> Algorithm : Logistic Regression:</a:t>
            </a:r>
            <a:br>
              <a:rPr lang="en-IN" dirty="0">
                <a:effectLst/>
              </a:rPr>
            </a:br>
            <a:r>
              <a:rPr lang="en-US" b="1" dirty="0">
                <a:effectLst/>
              </a:rPr>
              <a:t>Code </a:t>
            </a:r>
            <a:br>
              <a:rPr lang="en-IN" dirty="0">
                <a:effectLst/>
              </a:rPr>
            </a:br>
            <a:endParaRPr lang="en-IN" dirty="0"/>
          </a:p>
        </p:txBody>
      </p:sp>
      <p:pic>
        <p:nvPicPr>
          <p:cNvPr id="7" name="Content Placeholder 6"/>
          <p:cNvPicPr>
            <a:picLocks noGrp="1" noChangeAspect="1"/>
          </p:cNvPicPr>
          <p:nvPr>
            <p:ph idx="1"/>
          </p:nvPr>
        </p:nvPicPr>
        <p:blipFill>
          <a:blip r:embed="rId1"/>
          <a:stretch>
            <a:fillRect/>
          </a:stretch>
        </p:blipFill>
        <p:spPr>
          <a:xfrm>
            <a:off x="2801074" y="3796585"/>
            <a:ext cx="5979346" cy="2924255"/>
          </a:xfrm>
          <a:prstGeom prst="rect">
            <a:avLst/>
          </a:prstGeom>
        </p:spPr>
      </p:pic>
      <p:pic>
        <p:nvPicPr>
          <p:cNvPr id="9" name="Picture 8"/>
          <p:cNvPicPr>
            <a:picLocks noChangeAspect="1"/>
          </p:cNvPicPr>
          <p:nvPr/>
        </p:nvPicPr>
        <p:blipFill>
          <a:blip r:embed="rId2"/>
          <a:stretch>
            <a:fillRect/>
          </a:stretch>
        </p:blipFill>
        <p:spPr>
          <a:xfrm>
            <a:off x="2592728" y="1342662"/>
            <a:ext cx="6187691" cy="23380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7" name="Content Placeholder 6"/>
          <p:cNvPicPr>
            <a:picLocks noGrp="1" noChangeAspect="1"/>
          </p:cNvPicPr>
          <p:nvPr>
            <p:ph idx="1"/>
          </p:nvPr>
        </p:nvPicPr>
        <p:blipFill>
          <a:blip r:embed="rId1"/>
          <a:stretch>
            <a:fillRect/>
          </a:stretch>
        </p:blipFill>
        <p:spPr>
          <a:xfrm>
            <a:off x="801123" y="3715472"/>
            <a:ext cx="7087101" cy="3055717"/>
          </a:xfrm>
          <a:prstGeom prst="rect">
            <a:avLst/>
          </a:prstGeom>
        </p:spPr>
      </p:pic>
      <p:pic>
        <p:nvPicPr>
          <p:cNvPr id="5" name="Picture 4"/>
          <p:cNvPicPr>
            <a:picLocks noChangeAspect="1"/>
          </p:cNvPicPr>
          <p:nvPr/>
        </p:nvPicPr>
        <p:blipFill>
          <a:blip r:embed="rId2"/>
          <a:stretch>
            <a:fillRect/>
          </a:stretch>
        </p:blipFill>
        <p:spPr>
          <a:xfrm>
            <a:off x="801123" y="219920"/>
            <a:ext cx="7087101" cy="33335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815" y="609600"/>
            <a:ext cx="9905998" cy="1905000"/>
          </a:xfrm>
        </p:spPr>
        <p:txBody>
          <a:bodyPr>
            <a:normAutofit fontScale="90000"/>
          </a:bodyPr>
          <a:lstStyle/>
          <a:p>
            <a:r>
              <a:rPr lang="en-US" dirty="0"/>
              <a:t> </a:t>
            </a:r>
            <a:br>
              <a:rPr lang="en-US" dirty="0"/>
            </a:br>
            <a:br>
              <a:rPr lang="en-US" dirty="0"/>
            </a:br>
            <a:br>
              <a:rPr lang="en-US" dirty="0"/>
            </a:br>
            <a:br>
              <a:rPr lang="en-US" dirty="0"/>
            </a:br>
            <a:r>
              <a:rPr lang="en-US" dirty="0"/>
              <a:t>OUTPUT</a:t>
            </a:r>
            <a:br>
              <a:rPr lang="en-US" dirty="0"/>
            </a:br>
            <a:br>
              <a:rPr lang="en-US" dirty="0"/>
            </a:br>
            <a:br>
              <a:rPr lang="en-US" dirty="0"/>
            </a:br>
            <a:br>
              <a:rPr lang="en-US" dirty="0"/>
            </a:br>
            <a:br>
              <a:rPr lang="en-US" dirty="0"/>
            </a:br>
            <a:br>
              <a:rPr lang="en-US" dirty="0"/>
            </a:br>
            <a:r>
              <a:rPr lang="en-US" dirty="0"/>
              <a:t>GRAPH</a:t>
            </a:r>
            <a:endParaRPr lang="en-IN" dirty="0"/>
          </a:p>
        </p:txBody>
      </p:sp>
      <p:pic>
        <p:nvPicPr>
          <p:cNvPr id="7" name="Content Placeholder 6"/>
          <p:cNvPicPr>
            <a:picLocks noGrp="1" noChangeAspect="1"/>
          </p:cNvPicPr>
          <p:nvPr>
            <p:ph idx="1"/>
          </p:nvPr>
        </p:nvPicPr>
        <p:blipFill>
          <a:blip r:embed="rId1"/>
          <a:stretch>
            <a:fillRect/>
          </a:stretch>
        </p:blipFill>
        <p:spPr>
          <a:xfrm>
            <a:off x="3362383" y="3429000"/>
            <a:ext cx="4676982" cy="3124200"/>
          </a:xfrm>
          <a:prstGeom prst="rect">
            <a:avLst/>
          </a:prstGeom>
        </p:spPr>
      </p:pic>
      <p:pic>
        <p:nvPicPr>
          <p:cNvPr id="5" name="Picture 4"/>
          <p:cNvPicPr>
            <a:picLocks noChangeAspect="1"/>
          </p:cNvPicPr>
          <p:nvPr/>
        </p:nvPicPr>
        <p:blipFill>
          <a:blip r:embed="rId2"/>
          <a:stretch>
            <a:fillRect/>
          </a:stretch>
        </p:blipFill>
        <p:spPr>
          <a:xfrm>
            <a:off x="3800114" y="-129"/>
            <a:ext cx="5335930" cy="2897530"/>
          </a:xfrm>
          <a:prstGeom prst="rect">
            <a:avLst/>
          </a:prstGeom>
        </p:spPr>
      </p:pic>
      <p:sp>
        <p:nvSpPr>
          <p:cNvPr id="3" name="Text Box 2"/>
          <p:cNvSpPr txBox="1"/>
          <p:nvPr/>
        </p:nvSpPr>
        <p:spPr>
          <a:xfrm>
            <a:off x="2644775" y="3683635"/>
            <a:ext cx="4064000" cy="368300"/>
          </a:xfrm>
          <a:prstGeom prst="rect">
            <a:avLst/>
          </a:prstGeom>
          <a:noFill/>
        </p:spPr>
        <p:txBody>
          <a:bodyPr wrap="square" rtlCol="0">
            <a:spAutoFit/>
          </a:bodyPr>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2</a:t>
            </a:r>
            <a:r>
              <a:rPr lang="en-US" b="1" baseline="30000" dirty="0">
                <a:effectLst/>
              </a:rPr>
              <a:t>nd</a:t>
            </a:r>
            <a:r>
              <a:rPr lang="en-US" b="1" dirty="0">
                <a:effectLst/>
              </a:rPr>
              <a:t> </a:t>
            </a:r>
            <a:r>
              <a:rPr lang="en-US" b="1" dirty="0" err="1">
                <a:effectLst/>
              </a:rPr>
              <a:t>Algorithm:Decision</a:t>
            </a:r>
            <a:r>
              <a:rPr lang="en-US" b="1" dirty="0">
                <a:effectLst/>
              </a:rPr>
              <a:t> Tree:</a:t>
            </a:r>
            <a:br>
              <a:rPr lang="en-IN" dirty="0">
                <a:effectLst/>
              </a:rPr>
            </a:br>
            <a:r>
              <a:rPr lang="en-US" b="1" dirty="0">
                <a:effectLst/>
              </a:rPr>
              <a:t>Code</a:t>
            </a:r>
            <a:endParaRPr lang="en-IN" dirty="0"/>
          </a:p>
        </p:txBody>
      </p:sp>
      <p:sp>
        <p:nvSpPr>
          <p:cNvPr id="3" name="Content Placeholder 2"/>
          <p:cNvSpPr>
            <a:spLocks noGrp="1"/>
          </p:cNvSpPr>
          <p:nvPr>
            <p:ph idx="1"/>
          </p:nvPr>
        </p:nvSpPr>
        <p:spPr>
          <a:xfrm flipH="1">
            <a:off x="16007080" y="2667000"/>
            <a:ext cx="76200" cy="3124200"/>
          </a:xfrm>
        </p:spPr>
        <p:txBody>
          <a:bodyPr/>
          <a:lstStyle/>
          <a:p>
            <a:endParaRPr lang="en-IN"/>
          </a:p>
        </p:txBody>
      </p:sp>
      <p:pic>
        <p:nvPicPr>
          <p:cNvPr id="5" name="Picture 4"/>
          <p:cNvPicPr>
            <a:picLocks noChangeAspect="1"/>
          </p:cNvPicPr>
          <p:nvPr/>
        </p:nvPicPr>
        <p:blipFill>
          <a:blip r:embed="rId1"/>
          <a:stretch>
            <a:fillRect/>
          </a:stretch>
        </p:blipFill>
        <p:spPr>
          <a:xfrm>
            <a:off x="2916820" y="1643250"/>
            <a:ext cx="6308203" cy="38547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br>
              <a:rPr lang="en-US" dirty="0"/>
            </a:br>
            <a:endParaRPr lang="en-IN" dirty="0"/>
          </a:p>
        </p:txBody>
      </p:sp>
      <p:sp>
        <p:nvSpPr>
          <p:cNvPr id="3" name="Subtitle 2"/>
          <p:cNvSpPr>
            <a:spLocks noGrp="1"/>
          </p:cNvSpPr>
          <p:nvPr>
            <p:ph type="subTitle" idx="1"/>
          </p:nvPr>
        </p:nvSpPr>
        <p:spPr/>
        <p:txBody>
          <a:bodyPr/>
          <a:lstStyle/>
          <a:p>
            <a:r>
              <a:rPr lang="en-US" dirty="0"/>
              <a:t>OUTPUT</a:t>
            </a:r>
            <a:endParaRPr lang="en-IN" dirty="0"/>
          </a:p>
        </p:txBody>
      </p:sp>
      <p:pic>
        <p:nvPicPr>
          <p:cNvPr id="5" name="Picture 4"/>
          <p:cNvPicPr>
            <a:picLocks noChangeAspect="1"/>
          </p:cNvPicPr>
          <p:nvPr/>
        </p:nvPicPr>
        <p:blipFill>
          <a:blip r:embed="rId1"/>
          <a:stretch>
            <a:fillRect/>
          </a:stretch>
        </p:blipFill>
        <p:spPr>
          <a:xfrm>
            <a:off x="1853352" y="287440"/>
            <a:ext cx="7334559" cy="3522561"/>
          </a:xfrm>
          <a:prstGeom prst="rect">
            <a:avLst/>
          </a:prstGeom>
        </p:spPr>
      </p:pic>
      <p:pic>
        <p:nvPicPr>
          <p:cNvPr id="7" name="Picture 6"/>
          <p:cNvPicPr>
            <a:picLocks noChangeAspect="1"/>
          </p:cNvPicPr>
          <p:nvPr/>
        </p:nvPicPr>
        <p:blipFill>
          <a:blip r:embed="rId2"/>
          <a:stretch>
            <a:fillRect/>
          </a:stretch>
        </p:blipFill>
        <p:spPr>
          <a:xfrm>
            <a:off x="2633179" y="4479402"/>
            <a:ext cx="6925642" cy="237859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1099595"/>
            <a:ext cx="8676222" cy="4909596"/>
          </a:xfrm>
        </p:spPr>
        <p:txBody>
          <a:bodyPr/>
          <a:lstStyle/>
          <a:p>
            <a:r>
              <a:rPr lang="en-US" dirty="0"/>
              <a:t>GRAPH                                                          </a:t>
            </a:r>
            <a:br>
              <a:rPr lang="en-US" dirty="0"/>
            </a:br>
            <a:br>
              <a:rPr lang="en-US" dirty="0"/>
            </a:br>
            <a:br>
              <a:rPr lang="en-US" dirty="0"/>
            </a:br>
            <a:br>
              <a:rPr lang="en-US" dirty="0"/>
            </a:br>
            <a:endParaRPr lang="en-IN" dirty="0"/>
          </a:p>
        </p:txBody>
      </p:sp>
      <p:sp>
        <p:nvSpPr>
          <p:cNvPr id="3" name="Subtitle 2"/>
          <p:cNvSpPr>
            <a:spLocks noGrp="1"/>
          </p:cNvSpPr>
          <p:nvPr>
            <p:ph type="subTitle" idx="1"/>
          </p:nvPr>
        </p:nvSpPr>
        <p:spPr>
          <a:xfrm>
            <a:off x="14467205" y="3886200"/>
            <a:ext cx="1565910" cy="1905000"/>
          </a:xfrm>
        </p:spPr>
        <p:txBody>
          <a:bodyPr/>
          <a:lstStyle/>
          <a:p>
            <a:endParaRPr lang="en-IN" dirty="0"/>
          </a:p>
        </p:txBody>
      </p:sp>
      <p:pic>
        <p:nvPicPr>
          <p:cNvPr id="7" name="Picture 6"/>
          <p:cNvPicPr>
            <a:picLocks noChangeAspect="1"/>
          </p:cNvPicPr>
          <p:nvPr/>
        </p:nvPicPr>
        <p:blipFill>
          <a:blip r:embed="rId1"/>
          <a:stretch>
            <a:fillRect/>
          </a:stretch>
        </p:blipFill>
        <p:spPr>
          <a:xfrm>
            <a:off x="2533153" y="952154"/>
            <a:ext cx="7125694" cy="357354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IN" sz="3100" dirty="0">
                <a:effectLst/>
              </a:rPr>
            </a:br>
            <a:r>
              <a:rPr lang="en-US" sz="3100" b="1" dirty="0">
                <a:effectLst/>
              </a:rPr>
              <a:t>3</a:t>
            </a:r>
            <a:r>
              <a:rPr lang="en-US" sz="3100" b="1" baseline="30000" dirty="0">
                <a:effectLst/>
              </a:rPr>
              <a:t>rd</a:t>
            </a:r>
            <a:r>
              <a:rPr lang="en-US" sz="3100" b="1" dirty="0">
                <a:effectLst/>
              </a:rPr>
              <a:t> Algorithm: Random Forest:</a:t>
            </a:r>
            <a:br>
              <a:rPr lang="en-IN" sz="3100" dirty="0">
                <a:effectLst/>
              </a:rPr>
            </a:br>
            <a:r>
              <a:rPr lang="en-US" sz="3100" b="1" dirty="0">
                <a:effectLst/>
              </a:rPr>
              <a:t>Code:</a:t>
            </a:r>
            <a:br>
              <a:rPr lang="en-IN" dirty="0">
                <a:effectLst/>
              </a:rPr>
            </a:br>
            <a:br>
              <a:rPr lang="en-IN" dirty="0">
                <a:effectLst/>
              </a:rPr>
            </a:br>
            <a:br>
              <a:rPr lang="en-IN" dirty="0">
                <a:effectLst/>
              </a:rPr>
            </a:br>
            <a:br>
              <a:rPr lang="en-IN" dirty="0">
                <a:effectLst/>
              </a:rPr>
            </a:br>
            <a:endParaRPr lang="en-IN" dirty="0"/>
          </a:p>
        </p:txBody>
      </p:sp>
      <p:sp>
        <p:nvSpPr>
          <p:cNvPr id="3" name="Subtitle 2"/>
          <p:cNvSpPr>
            <a:spLocks noGrp="1"/>
          </p:cNvSpPr>
          <p:nvPr>
            <p:ph type="subTitle" idx="1"/>
          </p:nvPr>
        </p:nvSpPr>
        <p:spPr>
          <a:xfrm>
            <a:off x="12615545" y="3886200"/>
            <a:ext cx="419100" cy="1905000"/>
          </a:xfrm>
        </p:spPr>
        <p:txBody>
          <a:bodyPr/>
          <a:lstStyle/>
          <a:p>
            <a:endParaRPr lang="en-IN"/>
          </a:p>
        </p:txBody>
      </p:sp>
      <p:pic>
        <p:nvPicPr>
          <p:cNvPr id="5" name="Picture 4"/>
          <p:cNvPicPr>
            <a:picLocks noChangeAspect="1"/>
          </p:cNvPicPr>
          <p:nvPr/>
        </p:nvPicPr>
        <p:blipFill>
          <a:blip r:embed="rId1"/>
          <a:stretch>
            <a:fillRect/>
          </a:stretch>
        </p:blipFill>
        <p:spPr>
          <a:xfrm>
            <a:off x="2995342" y="1217896"/>
            <a:ext cx="6322278" cy="481655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52145" y="685800"/>
            <a:ext cx="1282065" cy="3200400"/>
          </a:xfrm>
        </p:spPr>
        <p:txBody>
          <a:bodyPr/>
          <a:lstStyle/>
          <a:p>
            <a:endParaRPr lang="en-IN" dirty="0"/>
          </a:p>
        </p:txBody>
      </p:sp>
      <p:sp>
        <p:nvSpPr>
          <p:cNvPr id="3" name="Subtitle 2"/>
          <p:cNvSpPr>
            <a:spLocks noGrp="1"/>
          </p:cNvSpPr>
          <p:nvPr>
            <p:ph type="subTitle" idx="1"/>
          </p:nvPr>
        </p:nvSpPr>
        <p:spPr/>
        <p:txBody>
          <a:bodyPr/>
          <a:lstStyle/>
          <a:p>
            <a:endParaRPr lang="en-US" dirty="0"/>
          </a:p>
          <a:p>
            <a:r>
              <a:rPr lang="en-IN" dirty="0"/>
              <a:t>output</a:t>
            </a:r>
            <a:endParaRPr lang="en-IN" dirty="0"/>
          </a:p>
        </p:txBody>
      </p:sp>
      <p:pic>
        <p:nvPicPr>
          <p:cNvPr id="5" name="Picture 4"/>
          <p:cNvPicPr>
            <a:picLocks noChangeAspect="1"/>
          </p:cNvPicPr>
          <p:nvPr/>
        </p:nvPicPr>
        <p:blipFill>
          <a:blip r:embed="rId1"/>
          <a:stretch>
            <a:fillRect/>
          </a:stretch>
        </p:blipFill>
        <p:spPr>
          <a:xfrm>
            <a:off x="1859026" y="324091"/>
            <a:ext cx="7285400" cy="3773347"/>
          </a:xfrm>
          <a:prstGeom prst="rect">
            <a:avLst/>
          </a:prstGeom>
        </p:spPr>
      </p:pic>
      <p:pic>
        <p:nvPicPr>
          <p:cNvPr id="7" name="Picture 6"/>
          <p:cNvPicPr>
            <a:picLocks noChangeAspect="1"/>
          </p:cNvPicPr>
          <p:nvPr/>
        </p:nvPicPr>
        <p:blipFill>
          <a:blip r:embed="rId2"/>
          <a:stretch>
            <a:fillRect/>
          </a:stretch>
        </p:blipFill>
        <p:spPr>
          <a:xfrm>
            <a:off x="7060557" y="4382948"/>
            <a:ext cx="3692324" cy="148445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2754775"/>
            <a:ext cx="8676222" cy="5150734"/>
          </a:xfrm>
        </p:spPr>
        <p:txBody>
          <a:bodyPr/>
          <a:lstStyle/>
          <a:p>
            <a:r>
              <a:rPr lang="en-US" b="1" dirty="0">
                <a:effectLst/>
              </a:rPr>
              <a:t>GRAPH:</a:t>
            </a:r>
            <a:br>
              <a:rPr lang="en-IN" dirty="0">
                <a:effectLst/>
              </a:rPr>
            </a:br>
            <a:endParaRPr lang="en-IN" dirty="0"/>
          </a:p>
        </p:txBody>
      </p:sp>
      <p:sp>
        <p:nvSpPr>
          <p:cNvPr id="3" name="Subtitle 2"/>
          <p:cNvSpPr>
            <a:spLocks noGrp="1"/>
          </p:cNvSpPr>
          <p:nvPr>
            <p:ph type="subTitle" idx="1"/>
          </p:nvPr>
        </p:nvSpPr>
        <p:spPr>
          <a:xfrm flipH="1">
            <a:off x="14423390" y="3886200"/>
            <a:ext cx="76200" cy="1905000"/>
          </a:xfrm>
        </p:spPr>
        <p:txBody>
          <a:bodyPr/>
          <a:lstStyle/>
          <a:p>
            <a:endParaRPr lang="en-IN" dirty="0"/>
          </a:p>
        </p:txBody>
      </p:sp>
      <p:pic>
        <p:nvPicPr>
          <p:cNvPr id="5" name="Picture 4"/>
          <p:cNvPicPr>
            <a:picLocks noChangeAspect="1"/>
          </p:cNvPicPr>
          <p:nvPr/>
        </p:nvPicPr>
        <p:blipFill>
          <a:blip r:embed="rId1"/>
          <a:stretch>
            <a:fillRect/>
          </a:stretch>
        </p:blipFill>
        <p:spPr>
          <a:xfrm>
            <a:off x="4595150" y="1613385"/>
            <a:ext cx="5845838" cy="366467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395958"/>
            <a:ext cx="9905998" cy="118641"/>
          </a:xfrm>
        </p:spPr>
        <p:txBody>
          <a:bodyPr>
            <a:normAutofit fontScale="90000"/>
          </a:bodyPr>
          <a:lstStyle/>
          <a:p>
            <a:r>
              <a:rPr lang="en-US" sz="2200" b="1" dirty="0">
                <a:effectLst/>
              </a:rPr>
              <a:t>                                                 </a:t>
            </a:r>
            <a:r>
              <a:rPr lang="en-US" sz="2000" b="1" dirty="0">
                <a:effectLst/>
              </a:rPr>
              <a:t>Conclusion</a:t>
            </a:r>
            <a:br>
              <a:rPr lang="en-US" sz="1800" b="1" dirty="0">
                <a:effectLst/>
              </a:rPr>
            </a:br>
            <a:br>
              <a:rPr lang="en-IN" sz="1800" b="1" dirty="0">
                <a:effectLst/>
              </a:rPr>
            </a:br>
            <a:r>
              <a:rPr lang="en-US" sz="1800" dirty="0">
                <a:effectLst/>
              </a:rPr>
              <a:t>The </a:t>
            </a:r>
            <a:r>
              <a:rPr lang="en-US" sz="1800" b="1" dirty="0">
                <a:effectLst/>
              </a:rPr>
              <a:t>Heart Disease Prediction using Machine Learning</a:t>
            </a:r>
            <a:r>
              <a:rPr lang="en-US" sz="1800" dirty="0">
                <a:effectLst/>
              </a:rPr>
              <a:t> project demonstrates how machine learning techniques can be used to predict the presence of heart disease using patient medical data. In this project, different machine learning algorithms such as </a:t>
            </a:r>
            <a:r>
              <a:rPr lang="en-US" sz="1800" b="1" dirty="0">
                <a:effectLst/>
              </a:rPr>
              <a:t>Logistic Regression, Decision Tree, and Random Forest</a:t>
            </a:r>
            <a:r>
              <a:rPr lang="en-US" sz="1800" dirty="0">
                <a:effectLst/>
              </a:rPr>
              <a:t> were implemented and tested using a heart disease dataset.</a:t>
            </a:r>
            <a:br>
              <a:rPr lang="en-US" sz="1800" dirty="0">
                <a:effectLst/>
              </a:rPr>
            </a:br>
            <a:br>
              <a:rPr lang="en-IN" sz="1800" dirty="0">
                <a:effectLst/>
              </a:rPr>
            </a:br>
            <a:r>
              <a:rPr lang="en-US" sz="1800" dirty="0">
                <a:effectLst/>
              </a:rPr>
              <a:t>The dataset was first preprocessed and divided into training and testing data. The models were then trained using the training dataset and evaluated using performance metrics such as </a:t>
            </a:r>
            <a:r>
              <a:rPr lang="en-US" sz="1800" b="1" dirty="0">
                <a:effectLst/>
              </a:rPr>
              <a:t>accuracy, confusion matrix, precision, recall, and F1-score</a:t>
            </a:r>
            <a:r>
              <a:rPr lang="en-US" sz="1800" dirty="0">
                <a:effectLst/>
              </a:rPr>
              <a:t>. After comparing the results, it was observed that some algorithms perform better than others in predicting heart disease.</a:t>
            </a:r>
            <a:br>
              <a:rPr lang="en-US" sz="1800" dirty="0">
                <a:effectLst/>
              </a:rPr>
            </a:br>
            <a:br>
              <a:rPr lang="en-IN" sz="1800" dirty="0">
                <a:effectLst/>
              </a:rPr>
            </a:br>
            <a:r>
              <a:rPr lang="en-US" sz="1800" dirty="0">
                <a:effectLst/>
              </a:rPr>
              <a:t>Machine learning models are useful because they can analyze large amounts of medical data quickly and identify patterns that may not be easily detected by humans. This helps in making faster and more accurate predictions about whether a patient is likely to have heart disease.</a:t>
            </a:r>
            <a:br>
              <a:rPr lang="en-US" sz="2000" dirty="0">
                <a:effectLst/>
              </a:rPr>
            </a:br>
            <a:br>
              <a:rPr lang="en-IN" sz="1600" dirty="0">
                <a:effectLst/>
              </a:rPr>
            </a:br>
            <a:endParaRPr lang="en-IN" sz="1600" dirty="0"/>
          </a:p>
        </p:txBody>
      </p:sp>
      <p:sp>
        <p:nvSpPr>
          <p:cNvPr id="3" name="Content Placeholder 2"/>
          <p:cNvSpPr>
            <a:spLocks noGrp="1"/>
          </p:cNvSpPr>
          <p:nvPr>
            <p:ph idx="1"/>
          </p:nvPr>
        </p:nvSpPr>
        <p:spPr>
          <a:xfrm flipV="1">
            <a:off x="678426" y="5143018"/>
            <a:ext cx="9391549" cy="378106"/>
          </a:xfrm>
        </p:spPr>
        <p:txBody>
          <a:bodyPr>
            <a:normAutofit fontScale="85000" lnSpcReduction="20000"/>
          </a:bodyPr>
          <a:lstStyle/>
          <a:p>
            <a:pPr marL="0" indent="0">
              <a:buNone/>
            </a:pPr>
            <a:endParaRPr lang="en-US" dirty="0"/>
          </a:p>
          <a:p>
            <a:pPr marL="0" indent="0">
              <a:buNone/>
            </a:pPr>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0</TotalTime>
  <Words>6079</Words>
  <Application>WPS Presentation</Application>
  <PresentationFormat>Widescreen</PresentationFormat>
  <Paragraphs>40</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Arial</vt:lpstr>
      <vt:lpstr>Century Gothic</vt:lpstr>
      <vt:lpstr>Microsoft YaHei</vt:lpstr>
      <vt:lpstr>Arial Unicode MS</vt:lpstr>
      <vt:lpstr>Calibri</vt:lpstr>
      <vt:lpstr>Mesh</vt:lpstr>
      <vt:lpstr>MACHINE LEARNING                                                                                                   TITLE:Heart Disease Prediction using Machine Learning Name: siri rollno:2403a51228 </vt:lpstr>
      <vt:lpstr>Abstract     Heart disease is one of the leading causes of death in the world. Early detection can help doctors provide better treatment and reduce the risk of serious health problems. This project focuses on predicting whether a person has heart disease or not using machine learning techniques. The system analyzes medical data such as age, blood pressure, cholesterol level, and other health parameters. Different machine learning algorithms like Logistic Regression, Decision Tree, and Random Forest are used to build prediction models. The models are trained using a dataset and their performance is evaluated using metrics like accuracy, precision, recall, and F1-score. The results show that machine learning can help in early diagnosis and improve healthcare decision-making.           </vt:lpstr>
      <vt:lpstr>Introduction   Heart disease is one of the leading causes of death worldwide and affects millions of people every year. It includes various conditions such as coronary artery disease, heart attack, and other cardiovascular problems that affect the normal functioning of the heart. Factors like high blood pressure, high cholesterol, unhealthy lifestyle, smoking, and lack of physical activity increase the risk of heart disease. Early detection of heart disease is very important to reduce serious health complications and improve patient survival. Traditionally, doctors diagnose heart disease using different medical tests and patient reports. However, this process may take time and depends on the experience of medical experts. With the advancement of technology, Machine Learning has become an important tool in the healthcare field. Machine Learning allows computers to analyze medical data, learn patterns, and make predictions. By using patient health information such as age, blood pressure, cholesterol level, and heart rate, machine learning models can help predict whether a person has heart disease . In this project, machine learning algorithms such as Logistic Regression, Decision Tree, and Random Forest are used to build prediction models. These models are trained using a heart disease dataset and evaluated using performance metrics like accuracy and precision. The main aim of this project is to develop a system that can assist doctors in predicting heart disease quickly and accurately, helping in early diagnosis and better healthcare decisions.   </vt:lpstr>
      <vt:lpstr>Problem Statement Heart disease diagnosis usually requires multiple medical tests and the expertise of specialized doctors. These tests include blood tests, ECG, stress tests, and other medical examinations. In many regions, especially rural or underdeveloped areas, proper medical facilities and experienced cardiologists may not always be available. Because of this, early detection of heart disease becomes difficult, and patients may not timely treatment. Another challenge is that doctors must analyze many different health parameters such as age, cholesterol level, blood pressure, chest pain type, and heart rate to determine whether a patient has heart disease. Manually analyzing all these factors can be time-consuming and may sometimes lead to errors or delayed diagnosis. Therefore, there is a need for an intelligent system that can assist medical professionals in predicting heart disease quickly and accurately. The problem addressed in this project is to develop a machine learning model that can predict the presence of heart</vt:lpstr>
      <vt:lpstr>Objectives The main objectives of this project are: To analyze heart disease datasets containing patient health information.  To preprocess and clean the dataset for machine learning models.  To implement machine learning algorithms such as Logistic Regression, Decision Tree, and Random Forest for heart disease prediction.  To train and test the machine learning models using the dataset.  To evaluate and compare the performance of different algorithms using metrics like accuracy, precision, recall, and F1-score.  To assist doctors in early detection and diagnosis of heart disease using predictive analysis.  </vt:lpstr>
      <vt:lpstr>Algorithms Used In this project, three machine learning algorithms are used: 1. Logistic Regression Logistic Regression is used for binary classification problems. It predicts whether the output is 0 or 1, meaning No Heart Disease or Heart Disease. 2. Decision Tree Decision Tree works like a flowchart where decisions are made based on different conditions of the data. 3. Random Forest Random Forest is an ensemble learning method that combines multiple decision trees to improve prediction accuracy.    </vt:lpstr>
      <vt:lpstr>Implementation Implementation (Dataset + Models) code </vt:lpstr>
      <vt:lpstr>PowerPoint 演示文稿</vt:lpstr>
      <vt:lpstr>PowerPoint 演示文稿</vt:lpstr>
      <vt:lpstr>OUTPUT: </vt:lpstr>
      <vt:lpstr>PowerPoint 演示文稿</vt:lpstr>
      <vt:lpstr>GRAPH </vt:lpstr>
      <vt:lpstr>1ST Algorithm : Logistic Regression: Code  </vt:lpstr>
      <vt:lpstr>PowerPoint 演示文稿</vt:lpstr>
      <vt:lpstr>     OUTPUT      GRAPH</vt:lpstr>
      <vt:lpstr>2nd Algorithm:Decision Tree: Code</vt:lpstr>
      <vt:lpstr> </vt:lpstr>
      <vt:lpstr>GRAPH                                                              </vt:lpstr>
      <vt:lpstr> 3rd Algorithm: Random Forest: Code:    </vt:lpstr>
      <vt:lpstr>PowerPoint 演示文稿</vt:lpstr>
      <vt:lpstr>GRAPH: </vt:lpstr>
      <vt:lpstr>                                                 Conclusion  The Heart Disease Prediction using Machine Learning project demonstrates how machine learning techniques can be used to predict the presence of heart disease using patient medical data. In this project, different machine learning algorithms such as Logistic Regression, Decision Tree, and Random Forest were implemented and tested using a heart disease dataset.  The dataset was first preprocessed and divided into training and testing data. The models were then trained using the training dataset and evaluated using performance metrics such as accuracy, confusion matrix, precision, recall, and F1-score. After comparing the results, it was observed that some algorithms perform better than others in predicting heart disease.  Machine learning models are useful because they can analyze large amounts of medical data quickly and identify patterns that may not be easily detected by humans. This helps in making faster and more accurate predictions about whether a patient is likely to have heart disease.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Rasuri srija</dc:creator>
  <cp:lastModifiedBy>Siri</cp:lastModifiedBy>
  <cp:revision>3</cp:revision>
  <dcterms:created xsi:type="dcterms:W3CDTF">2026-04-06T12:20:00Z</dcterms:created>
  <dcterms:modified xsi:type="dcterms:W3CDTF">2026-04-07T09:03:44Z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94213DBE06E24AEB8BC7E4A009552780_13</vt:lpwstr>
  </property>
</Properties>
</file>